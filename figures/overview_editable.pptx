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1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illustration was generated from the user-provided overview.pdf. All visible labels and connectors are native PowerPoint objects and remain editable. The raster base is movable but its internal icons are not vector-editable.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rcRect t="6341" b="6993"/>
          <a:stretch>
            <a:fillRect/>
          </a:stretch>
        </p:blipFill>
        <p:spPr>
          <a:xfrm>
            <a:off x="3239" y="434898"/>
            <a:ext cx="12185522" cy="5943600"/>
          </a:xfrm>
          <a:prstGeom prst="rect">
            <a:avLst/>
          </a:prstGeom>
        </p:spPr>
      </p:pic>
      <p:sp>
        <p:nvSpPr>
          <p:cNvPr id="2" name="anchor-question">
            <a:extLst>
              <a:ext uri="{FF2B5EF4-FFF2-40B4-BE49-F238E27FC236}">
                <a16:creationId xmlns:a16="http://schemas.microsoft.com/office/drawing/2014/main" id="{23C392A4-37AC-47C5-AA50-296EAE0D6FB4}"/>
              </a:ext>
            </a:extLst>
          </p:cNvPr>
          <p:cNvSpPr>
            <a:spLocks noGrp="1"/>
          </p:cNvSpPr>
          <p:nvPr/>
        </p:nvSpPr>
        <p:spPr>
          <a:xfrm>
            <a:off x="333375" y="2438400"/>
            <a:ext cx="790575" cy="95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nchor-agent">
            <a:extLst>
              <a:ext uri="{FF2B5EF4-FFF2-40B4-BE49-F238E27FC236}">
                <a16:creationId xmlns:a16="http://schemas.microsoft.com/office/drawing/2014/main" id="{80B1015E-AA66-40AF-B252-72B5FA00992A}"/>
              </a:ext>
            </a:extLst>
          </p:cNvPr>
          <p:cNvSpPr>
            <a:spLocks noGrp="1"/>
          </p:cNvSpPr>
          <p:nvPr/>
        </p:nvSpPr>
        <p:spPr>
          <a:xfrm>
            <a:off x="1428750" y="2438400"/>
            <a:ext cx="904875" cy="95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anchor-query">
            <a:extLst>
              <a:ext uri="{FF2B5EF4-FFF2-40B4-BE49-F238E27FC236}">
                <a16:creationId xmlns:a16="http://schemas.microsoft.com/office/drawing/2014/main" id="{DCD91AB6-5897-48E6-97FB-C8B880DDC884}"/>
              </a:ext>
            </a:extLst>
          </p:cNvPr>
          <p:cNvSpPr>
            <a:spLocks noGrp="1"/>
          </p:cNvSpPr>
          <p:nvPr/>
        </p:nvSpPr>
        <p:spPr>
          <a:xfrm>
            <a:off x="3133725" y="2333625"/>
            <a:ext cx="1104900" cy="95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nchor-exposure">
            <a:extLst>
              <a:ext uri="{FF2B5EF4-FFF2-40B4-BE49-F238E27FC236}">
                <a16:creationId xmlns:a16="http://schemas.microsoft.com/office/drawing/2014/main" id="{362A254B-C7E8-4C4B-86F3-D7F7AC4C5C19}"/>
              </a:ext>
            </a:extLst>
          </p:cNvPr>
          <p:cNvSpPr>
            <a:spLocks noGrp="1"/>
          </p:cNvSpPr>
          <p:nvPr/>
        </p:nvSpPr>
        <p:spPr>
          <a:xfrm>
            <a:off x="4667250" y="2333625"/>
            <a:ext cx="952500" cy="95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anchor-inclusion">
            <a:extLst>
              <a:ext uri="{FF2B5EF4-FFF2-40B4-BE49-F238E27FC236}">
                <a16:creationId xmlns:a16="http://schemas.microsoft.com/office/drawing/2014/main" id="{0A267ED8-4FE1-40E9-A8E6-A6531BE448B7}"/>
              </a:ext>
            </a:extLst>
          </p:cNvPr>
          <p:cNvSpPr>
            <a:spLocks noGrp="1"/>
          </p:cNvSpPr>
          <p:nvPr/>
        </p:nvSpPr>
        <p:spPr>
          <a:xfrm>
            <a:off x="6153150" y="2333625"/>
            <a:ext cx="1047750" cy="95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nchor-stopping">
            <a:extLst>
              <a:ext uri="{FF2B5EF4-FFF2-40B4-BE49-F238E27FC236}">
                <a16:creationId xmlns:a16="http://schemas.microsoft.com/office/drawing/2014/main" id="{D0AF9B1B-41D5-4837-8910-4F48AB36C9A2}"/>
              </a:ext>
            </a:extLst>
          </p:cNvPr>
          <p:cNvSpPr>
            <a:spLocks noGrp="1"/>
          </p:cNvSpPr>
          <p:nvPr/>
        </p:nvSpPr>
        <p:spPr>
          <a:xfrm>
            <a:off x="7858125" y="2333625"/>
            <a:ext cx="523875" cy="95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55" name="直线箭头连接符 54"/>
          <p:cNvCxnSpPr>
            <a:stCxn id="2" idx="3"/>
            <a:endCxn id="3" idx="1"/>
          </p:cNvCxnSpPr>
          <p:nvPr/>
        </p:nvCxnSpPr>
        <p:spPr>
          <a:xfrm>
            <a:off x="1123950" y="2486025"/>
            <a:ext cx="304800" cy="0"/>
          </a:xfrm>
          <a:prstGeom prst="straightConnector1">
            <a:avLst/>
          </a:prstGeom>
          <a:ln w="23813" cap="rnd">
            <a:solidFill>
              <a:srgbClr val="263847"/>
            </a:solidFill>
            <a:prstDash val="solid"/>
            <a:round/>
            <a:tailEnd type="triangle" w="med" len="med"/>
          </a:ln>
        </p:spPr>
      </p:cxnSp>
      <p:cxnSp>
        <p:nvCxnSpPr>
          <p:cNvPr id="56" name="直线箭头连接符 55"/>
          <p:cNvCxnSpPr>
            <a:stCxn id="3" idx="3"/>
            <a:endCxn id="4" idx="1"/>
          </p:cNvCxnSpPr>
          <p:nvPr/>
        </p:nvCxnSpPr>
        <p:spPr>
          <a:xfrm flipV="1">
            <a:off x="2333625" y="2381250"/>
            <a:ext cx="800100" cy="104775"/>
          </a:xfrm>
          <a:prstGeom prst="straightConnector1">
            <a:avLst/>
          </a:prstGeom>
          <a:ln w="23813" cap="rnd">
            <a:solidFill>
              <a:srgbClr val="263847"/>
            </a:solidFill>
            <a:prstDash val="solid"/>
            <a:round/>
            <a:tailEnd type="triangle" w="med" len="med"/>
          </a:ln>
        </p:spPr>
      </p:cxnSp>
      <p:cxnSp>
        <p:nvCxnSpPr>
          <p:cNvPr id="57" name="直线箭头连接符 56"/>
          <p:cNvCxnSpPr>
            <a:stCxn id="4" idx="3"/>
            <a:endCxn id="5" idx="1"/>
          </p:cNvCxnSpPr>
          <p:nvPr/>
        </p:nvCxnSpPr>
        <p:spPr>
          <a:xfrm>
            <a:off x="4238625" y="2381250"/>
            <a:ext cx="428625" cy="0"/>
          </a:xfrm>
          <a:prstGeom prst="straightConnector1">
            <a:avLst/>
          </a:prstGeom>
          <a:ln w="23813" cap="rnd">
            <a:solidFill>
              <a:srgbClr val="263847"/>
            </a:solidFill>
            <a:prstDash val="solid"/>
            <a:round/>
            <a:tailEnd type="triangle" w="med" len="med"/>
          </a:ln>
        </p:spPr>
      </p:cxnSp>
      <p:cxnSp>
        <p:nvCxnSpPr>
          <p:cNvPr id="58" name="直线箭头连接符 57"/>
          <p:cNvCxnSpPr>
            <a:stCxn id="5" idx="3"/>
            <a:endCxn id="6" idx="1"/>
          </p:cNvCxnSpPr>
          <p:nvPr/>
        </p:nvCxnSpPr>
        <p:spPr>
          <a:xfrm>
            <a:off x="5619750" y="2381250"/>
            <a:ext cx="533400" cy="0"/>
          </a:xfrm>
          <a:prstGeom prst="straightConnector1">
            <a:avLst/>
          </a:prstGeom>
          <a:ln w="23813" cap="rnd">
            <a:solidFill>
              <a:srgbClr val="263847"/>
            </a:solidFill>
            <a:prstDash val="solid"/>
            <a:round/>
            <a:tailEnd type="triangle" w="med" len="med"/>
          </a:ln>
        </p:spPr>
      </p:cxnSp>
      <p:cxnSp>
        <p:nvCxnSpPr>
          <p:cNvPr id="59" name="直线箭头连接符 58"/>
          <p:cNvCxnSpPr>
            <a:stCxn id="6" idx="3"/>
            <a:endCxn id="7" idx="1"/>
          </p:cNvCxnSpPr>
          <p:nvPr/>
        </p:nvCxnSpPr>
        <p:spPr>
          <a:xfrm>
            <a:off x="7200900" y="2381250"/>
            <a:ext cx="657225" cy="0"/>
          </a:xfrm>
          <a:prstGeom prst="straightConnector1">
            <a:avLst/>
          </a:prstGeom>
          <a:ln w="23813" cap="rnd">
            <a:solidFill>
              <a:srgbClr val="263847"/>
            </a:solidFill>
            <a:prstDash val="solid"/>
            <a:round/>
            <a:tailEnd type="triangle" w="med" len="med"/>
          </a:ln>
        </p:spPr>
      </p:cxnSp>
      <p:sp>
        <p:nvSpPr>
          <p:cNvPr id="13" name="feedback-start">
            <a:extLst>
              <a:ext uri="{FF2B5EF4-FFF2-40B4-BE49-F238E27FC236}">
                <a16:creationId xmlns:a16="http://schemas.microsoft.com/office/drawing/2014/main" id="{E54EC05F-E289-4DBC-A328-5D931DF02B6D}"/>
              </a:ext>
            </a:extLst>
          </p:cNvPr>
          <p:cNvSpPr>
            <a:spLocks noGrp="1"/>
          </p:cNvSpPr>
          <p:nvPr/>
        </p:nvSpPr>
        <p:spPr>
          <a:xfrm>
            <a:off x="8401050" y="207645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eedback-right-low">
            <a:extLst>
              <a:ext uri="{FF2B5EF4-FFF2-40B4-BE49-F238E27FC236}">
                <a16:creationId xmlns:a16="http://schemas.microsoft.com/office/drawing/2014/main" id="{CAC2FE75-267A-4FEA-8655-DD83FFB99626}"/>
              </a:ext>
            </a:extLst>
          </p:cNvPr>
          <p:cNvSpPr>
            <a:spLocks noGrp="1"/>
          </p:cNvSpPr>
          <p:nvPr/>
        </p:nvSpPr>
        <p:spPr>
          <a:xfrm>
            <a:off x="8582025" y="207645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eedback-top-right">
            <a:extLst>
              <a:ext uri="{FF2B5EF4-FFF2-40B4-BE49-F238E27FC236}">
                <a16:creationId xmlns:a16="http://schemas.microsoft.com/office/drawing/2014/main" id="{490EC1E3-D9E1-4343-884A-DCFBFC576169}"/>
              </a:ext>
            </a:extLst>
          </p:cNvPr>
          <p:cNvSpPr>
            <a:spLocks noGrp="1"/>
          </p:cNvSpPr>
          <p:nvPr/>
        </p:nvSpPr>
        <p:spPr>
          <a:xfrm>
            <a:off x="8582025" y="110490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feedback-top-left">
            <a:extLst>
              <a:ext uri="{FF2B5EF4-FFF2-40B4-BE49-F238E27FC236}">
                <a16:creationId xmlns:a16="http://schemas.microsoft.com/office/drawing/2014/main" id="{A5449C97-E466-46B6-95EB-3E6F7DEADB84}"/>
              </a:ext>
            </a:extLst>
          </p:cNvPr>
          <p:cNvSpPr>
            <a:spLocks noGrp="1"/>
          </p:cNvSpPr>
          <p:nvPr/>
        </p:nvSpPr>
        <p:spPr>
          <a:xfrm>
            <a:off x="2990850" y="110490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feedback-end">
            <a:extLst>
              <a:ext uri="{FF2B5EF4-FFF2-40B4-BE49-F238E27FC236}">
                <a16:creationId xmlns:a16="http://schemas.microsoft.com/office/drawing/2014/main" id="{1F29B69A-2286-4DAC-BE20-B757A25ED240}"/>
              </a:ext>
            </a:extLst>
          </p:cNvPr>
          <p:cNvSpPr>
            <a:spLocks noGrp="1"/>
          </p:cNvSpPr>
          <p:nvPr/>
        </p:nvSpPr>
        <p:spPr>
          <a:xfrm>
            <a:off x="2990850" y="207645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65" name="直线箭头连接符 64"/>
          <p:cNvCxnSpPr>
            <a:stCxn id="13" idx="3"/>
            <a:endCxn id="14" idx="1"/>
          </p:cNvCxnSpPr>
          <p:nvPr/>
        </p:nvCxnSpPr>
        <p:spPr>
          <a:xfrm>
            <a:off x="8420100" y="2085975"/>
            <a:ext cx="161925" cy="0"/>
          </a:xfrm>
          <a:prstGeom prst="straightConnector1">
            <a:avLst/>
          </a:prstGeom>
          <a:ln w="20955" cap="rnd">
            <a:solidFill>
              <a:srgbClr val="263847"/>
            </a:solidFill>
            <a:prstDash val="solid"/>
            <a:round/>
          </a:ln>
        </p:spPr>
      </p:cxnSp>
      <p:cxnSp>
        <p:nvCxnSpPr>
          <p:cNvPr id="66" name="直线箭头连接符 65"/>
          <p:cNvCxnSpPr>
            <a:stCxn id="14" idx="0"/>
            <a:endCxn id="15" idx="2"/>
          </p:cNvCxnSpPr>
          <p:nvPr/>
        </p:nvCxnSpPr>
        <p:spPr>
          <a:xfrm flipV="1">
            <a:off x="8591550" y="1123950"/>
            <a:ext cx="0" cy="952500"/>
          </a:xfrm>
          <a:prstGeom prst="straightConnector1">
            <a:avLst/>
          </a:prstGeom>
          <a:ln w="20955" cap="rnd">
            <a:solidFill>
              <a:srgbClr val="263847"/>
            </a:solidFill>
            <a:prstDash val="solid"/>
            <a:round/>
          </a:ln>
        </p:spPr>
      </p:cxnSp>
      <p:cxnSp>
        <p:nvCxnSpPr>
          <p:cNvPr id="67" name="直线箭头连接符 66"/>
          <p:cNvCxnSpPr>
            <a:stCxn id="15" idx="1"/>
            <a:endCxn id="16" idx="3"/>
          </p:cNvCxnSpPr>
          <p:nvPr/>
        </p:nvCxnSpPr>
        <p:spPr>
          <a:xfrm flipH="1">
            <a:off x="3009900" y="1114425"/>
            <a:ext cx="5572125" cy="0"/>
          </a:xfrm>
          <a:prstGeom prst="straightConnector1">
            <a:avLst/>
          </a:prstGeom>
          <a:ln w="20955" cap="rnd">
            <a:solidFill>
              <a:srgbClr val="263847"/>
            </a:solidFill>
            <a:prstDash val="solid"/>
            <a:round/>
          </a:ln>
        </p:spPr>
      </p:cxnSp>
      <p:cxnSp>
        <p:nvCxnSpPr>
          <p:cNvPr id="68" name="直线箭头连接符 67"/>
          <p:cNvCxnSpPr>
            <a:stCxn id="16" idx="2"/>
            <a:endCxn id="17" idx="0"/>
          </p:cNvCxnSpPr>
          <p:nvPr/>
        </p:nvCxnSpPr>
        <p:spPr>
          <a:xfrm>
            <a:off x="3000375" y="1123950"/>
            <a:ext cx="0" cy="952500"/>
          </a:xfrm>
          <a:prstGeom prst="straightConnector1">
            <a:avLst/>
          </a:prstGeom>
          <a:ln w="20955" cap="rnd">
            <a:solidFill>
              <a:srgbClr val="263847"/>
            </a:solidFill>
            <a:prstDash val="solid"/>
            <a:round/>
            <a:tailEnd type="triangle" w="med" len="med"/>
          </a:ln>
        </p:spPr>
      </p:cxnSp>
      <p:sp>
        <p:nvSpPr>
          <p:cNvPr id="22" name="naive-from">
            <a:extLst>
              <a:ext uri="{FF2B5EF4-FFF2-40B4-BE49-F238E27FC236}">
                <a16:creationId xmlns:a16="http://schemas.microsoft.com/office/drawing/2014/main" id="{A7B8EC9B-DB0C-4CF8-A976-DE4667733856}"/>
              </a:ext>
            </a:extLst>
          </p:cNvPr>
          <p:cNvSpPr>
            <a:spLocks noGrp="1"/>
          </p:cNvSpPr>
          <p:nvPr/>
        </p:nvSpPr>
        <p:spPr>
          <a:xfrm>
            <a:off x="8401050" y="2333625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naive-to">
            <a:extLst>
              <a:ext uri="{FF2B5EF4-FFF2-40B4-BE49-F238E27FC236}">
                <a16:creationId xmlns:a16="http://schemas.microsoft.com/office/drawing/2014/main" id="{8FCBF62A-D240-4A9C-AF60-758BFD49B096}"/>
              </a:ext>
            </a:extLst>
          </p:cNvPr>
          <p:cNvSpPr>
            <a:spLocks noGrp="1"/>
          </p:cNvSpPr>
          <p:nvPr/>
        </p:nvSpPr>
        <p:spPr>
          <a:xfrm>
            <a:off x="9048750" y="2333625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1" name="直线箭头连接符 70"/>
          <p:cNvCxnSpPr>
            <a:stCxn id="22" idx="3"/>
            <a:endCxn id="23" idx="1"/>
          </p:cNvCxnSpPr>
          <p:nvPr/>
        </p:nvCxnSpPr>
        <p:spPr>
          <a:xfrm>
            <a:off x="8420100" y="2343150"/>
            <a:ext cx="628650" cy="0"/>
          </a:xfrm>
          <a:prstGeom prst="straightConnector1">
            <a:avLst/>
          </a:prstGeom>
          <a:ln w="28575" cap="rnd">
            <a:solidFill>
              <a:srgbClr val="D6655A"/>
            </a:solidFill>
            <a:prstDash val="dash"/>
            <a:round/>
            <a:tailEnd type="triangle" w="med" len="med"/>
          </a:ln>
        </p:spPr>
      </p:cxnSp>
      <p:sp>
        <p:nvSpPr>
          <p:cNvPr id="25" name="log-from">
            <a:extLst>
              <a:ext uri="{FF2B5EF4-FFF2-40B4-BE49-F238E27FC236}">
                <a16:creationId xmlns:a16="http://schemas.microsoft.com/office/drawing/2014/main" id="{896C31CF-7F42-4771-B1E3-D7470526FCDE}"/>
              </a:ext>
            </a:extLst>
          </p:cNvPr>
          <p:cNvSpPr>
            <a:spLocks noGrp="1"/>
          </p:cNvSpPr>
          <p:nvPr/>
        </p:nvSpPr>
        <p:spPr>
          <a:xfrm>
            <a:off x="7124700" y="367665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og-to">
            <a:extLst>
              <a:ext uri="{FF2B5EF4-FFF2-40B4-BE49-F238E27FC236}">
                <a16:creationId xmlns:a16="http://schemas.microsoft.com/office/drawing/2014/main" id="{86A70F63-3110-4194-B048-5AD5586A6FFC}"/>
              </a:ext>
            </a:extLst>
          </p:cNvPr>
          <p:cNvSpPr>
            <a:spLocks noGrp="1"/>
          </p:cNvSpPr>
          <p:nvPr/>
        </p:nvSpPr>
        <p:spPr>
          <a:xfrm>
            <a:off x="7124700" y="403860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4" name="直线箭头连接符 73"/>
          <p:cNvCxnSpPr>
            <a:stCxn id="25" idx="2"/>
            <a:endCxn id="26" idx="0"/>
          </p:cNvCxnSpPr>
          <p:nvPr/>
        </p:nvCxnSpPr>
        <p:spPr>
          <a:xfrm>
            <a:off x="7134225" y="3695700"/>
            <a:ext cx="0" cy="342900"/>
          </a:xfrm>
          <a:prstGeom prst="straightConnector1">
            <a:avLst/>
          </a:prstGeom>
          <a:ln w="28575" cap="rnd">
            <a:solidFill>
              <a:srgbClr val="176AA8"/>
            </a:solidFill>
            <a:prstDash val="solid"/>
            <a:round/>
            <a:tailEnd type="triangle" w="med" len="med"/>
          </a:ln>
        </p:spPr>
      </p:cxnSp>
      <p:sp>
        <p:nvSpPr>
          <p:cNvPr id="28" name="cess-from">
            <a:extLst>
              <a:ext uri="{FF2B5EF4-FFF2-40B4-BE49-F238E27FC236}">
                <a16:creationId xmlns:a16="http://schemas.microsoft.com/office/drawing/2014/main" id="{7EDE6F95-3B75-47D7-8D27-6CAB83608D1E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udit-to">
            <a:extLst>
              <a:ext uri="{FF2B5EF4-FFF2-40B4-BE49-F238E27FC236}">
                <a16:creationId xmlns:a16="http://schemas.microsoft.com/office/drawing/2014/main" id="{B56C85D1-D83B-48B0-9C71-8FF97F50F40E}"/>
              </a:ext>
            </a:extLst>
          </p:cNvPr>
          <p:cNvSpPr>
            <a:spLocks noGrp="1"/>
          </p:cNvSpPr>
          <p:nvPr/>
        </p:nvSpPr>
        <p:spPr>
          <a:xfrm>
            <a:off x="9048750" y="514350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77" name="直线箭头连接符 76"/>
          <p:cNvCxnSpPr>
            <a:stCxn id="28" idx="3"/>
            <a:endCxn id="29" idx="1"/>
          </p:cNvCxnSpPr>
          <p:nvPr/>
        </p:nvCxnSpPr>
        <p:spPr>
          <a:xfrm>
            <a:off x="8496300" y="5153025"/>
            <a:ext cx="552450" cy="0"/>
          </a:xfrm>
          <a:prstGeom prst="straightConnector1">
            <a:avLst/>
          </a:prstGeom>
          <a:ln w="28575" cap="rnd">
            <a:solidFill>
              <a:srgbClr val="176AA8"/>
            </a:solidFill>
            <a:prstDash val="solid"/>
            <a:round/>
            <a:tailEnd type="triangle" w="med" len="med"/>
          </a:ln>
        </p:spPr>
      </p:cxnSp>
      <p:sp>
        <p:nvSpPr>
          <p:cNvPr id="31" name="label-research-question">
            <a:extLst>
              <a:ext uri="{FF2B5EF4-FFF2-40B4-BE49-F238E27FC236}">
                <a16:creationId xmlns:a16="http://schemas.microsoft.com/office/drawing/2014/main" id="{5368FFD3-603A-4906-B5DF-3508BB2BE4FA}"/>
              </a:ext>
            </a:extLst>
          </p:cNvPr>
          <p:cNvSpPr>
            <a:spLocks noGrp="1"/>
          </p:cNvSpPr>
          <p:nvPr/>
        </p:nvSpPr>
        <p:spPr>
          <a:xfrm>
            <a:off x="200025" y="3152775"/>
            <a:ext cx="1123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2638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63847"/>
                </a:solidFill>
                <a:latin typeface="Times New Roman"/>
                <a:ea typeface="Times New Roman"/>
                <a:cs typeface="Times New Roman"/>
              </a:rPr>
              <a:t>Research question</a:t>
            </a:r>
          </a:p>
        </p:txBody>
      </p:sp>
      <p:sp>
        <p:nvSpPr>
          <p:cNvPr id="32" name="label-agent">
            <a:extLst>
              <a:ext uri="{FF2B5EF4-FFF2-40B4-BE49-F238E27FC236}">
                <a16:creationId xmlns:a16="http://schemas.microsoft.com/office/drawing/2014/main" id="{21E411B5-D132-436A-9B69-F617A77297E7}"/>
              </a:ext>
            </a:extLst>
          </p:cNvPr>
          <p:cNvSpPr>
            <a:spLocks noGrp="1"/>
          </p:cNvSpPr>
          <p:nvPr/>
        </p:nvSpPr>
        <p:spPr>
          <a:xfrm>
            <a:off x="1184822" y="2721013"/>
            <a:ext cx="1514234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5776"/>
          </a:bodyPr>
          <a:lstStyle/>
          <a:p>
            <a:pPr algn="ctr">
              <a:defRPr sz="1450" b="1">
                <a:solidFill>
                  <a:srgbClr val="2638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63847"/>
                </a:solidFill>
                <a:latin typeface="Times New Roman"/>
                <a:ea typeface="Times New Roman"/>
                <a:cs typeface="Times New Roman"/>
              </a:rPr>
              <a:t>Deep Research agent</a:t>
            </a:r>
          </a:p>
        </p:txBody>
      </p:sp>
      <p:sp>
        <p:nvSpPr>
          <p:cNvPr id="33" name="label-feedback">
            <a:extLst>
              <a:ext uri="{FF2B5EF4-FFF2-40B4-BE49-F238E27FC236}">
                <a16:creationId xmlns:a16="http://schemas.microsoft.com/office/drawing/2014/main" id="{936BC002-20FE-443E-8D30-2BC8C99A7DDA}"/>
              </a:ext>
            </a:extLst>
          </p:cNvPr>
          <p:cNvSpPr>
            <a:spLocks noGrp="1"/>
          </p:cNvSpPr>
          <p:nvPr/>
        </p:nvSpPr>
        <p:spPr>
          <a:xfrm>
            <a:off x="4144769" y="656993"/>
            <a:ext cx="3961006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700" b="1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rPr>
              <a:t>Evidence history updates the next query</a:t>
            </a:r>
          </a:p>
        </p:txBody>
      </p:sp>
      <p:sp>
        <p:nvSpPr>
          <p:cNvPr id="34" name="label-query">
            <a:extLst>
              <a:ext uri="{FF2B5EF4-FFF2-40B4-BE49-F238E27FC236}">
                <a16:creationId xmlns:a16="http://schemas.microsoft.com/office/drawing/2014/main" id="{9756ECF5-D1DE-4274-A0E4-0432408EEDAA}"/>
              </a:ext>
            </a:extLst>
          </p:cNvPr>
          <p:cNvSpPr>
            <a:spLocks noGrp="1"/>
          </p:cNvSpPr>
          <p:nvPr/>
        </p:nvSpPr>
        <p:spPr>
          <a:xfrm>
            <a:off x="3190875" y="1209675"/>
            <a:ext cx="10096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35" name="label-exposure">
            <a:extLst>
              <a:ext uri="{FF2B5EF4-FFF2-40B4-BE49-F238E27FC236}">
                <a16:creationId xmlns:a16="http://schemas.microsoft.com/office/drawing/2014/main" id="{7EE457B8-8BDA-4503-B191-FBE496E1BA85}"/>
              </a:ext>
            </a:extLst>
          </p:cNvPr>
          <p:cNvSpPr>
            <a:spLocks noGrp="1"/>
          </p:cNvSpPr>
          <p:nvPr/>
        </p:nvSpPr>
        <p:spPr>
          <a:xfrm>
            <a:off x="4648200" y="1209675"/>
            <a:ext cx="990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rPr>
              <a:t>Exposure</a:t>
            </a:r>
          </a:p>
        </p:txBody>
      </p:sp>
      <p:sp>
        <p:nvSpPr>
          <p:cNvPr id="36" name="label-inclusion">
            <a:extLst>
              <a:ext uri="{FF2B5EF4-FFF2-40B4-BE49-F238E27FC236}">
                <a16:creationId xmlns:a16="http://schemas.microsoft.com/office/drawing/2014/main" id="{C18F652B-773E-4427-A2C8-4BCF056A8ECC}"/>
              </a:ext>
            </a:extLst>
          </p:cNvPr>
          <p:cNvSpPr>
            <a:spLocks noGrp="1"/>
          </p:cNvSpPr>
          <p:nvPr/>
        </p:nvSpPr>
        <p:spPr>
          <a:xfrm>
            <a:off x="6153150" y="1209675"/>
            <a:ext cx="1028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1638" lnSpcReduction="10000"/>
          </a:bodyPr>
          <a:lstStyle/>
          <a:p>
            <a:pPr algn="ctr">
              <a:defRPr sz="1450" b="1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rPr>
              <a:t>Inclusion</a:t>
            </a:r>
          </a:p>
        </p:txBody>
      </p:sp>
      <p:sp>
        <p:nvSpPr>
          <p:cNvPr id="37" name="label-stopping">
            <a:extLst>
              <a:ext uri="{FF2B5EF4-FFF2-40B4-BE49-F238E27FC236}">
                <a16:creationId xmlns:a16="http://schemas.microsoft.com/office/drawing/2014/main" id="{E15CF127-B7FA-403B-8D5D-0D9D932677AB}"/>
              </a:ext>
            </a:extLst>
          </p:cNvPr>
          <p:cNvSpPr>
            <a:spLocks noGrp="1"/>
          </p:cNvSpPr>
          <p:nvPr/>
        </p:nvSpPr>
        <p:spPr>
          <a:xfrm>
            <a:off x="7677150" y="1209675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rPr>
              <a:t>Stopping</a:t>
            </a:r>
          </a:p>
        </p:txBody>
      </p:sp>
      <p:sp>
        <p:nvSpPr>
          <p:cNvPr id="38" name="label-selection-bias">
            <a:extLst>
              <a:ext uri="{FF2B5EF4-FFF2-40B4-BE49-F238E27FC236}">
                <a16:creationId xmlns:a16="http://schemas.microsoft.com/office/drawing/2014/main" id="{D23B38B0-7992-4894-ACF9-50E48BA3AC93}"/>
              </a:ext>
            </a:extLst>
          </p:cNvPr>
          <p:cNvSpPr>
            <a:spLocks noGrp="1"/>
          </p:cNvSpPr>
          <p:nvPr/>
        </p:nvSpPr>
        <p:spPr>
          <a:xfrm>
            <a:off x="3816504" y="3192501"/>
            <a:ext cx="4041852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B7413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B74139"/>
                </a:solidFill>
                <a:latin typeface="Times New Roman"/>
                <a:ea typeface="Times New Roman"/>
                <a:cs typeface="Times New Roman"/>
              </a:rPr>
              <a:t>Search policy shifts the evidence distribution</a:t>
            </a:r>
          </a:p>
        </p:txBody>
      </p:sp>
      <p:sp>
        <p:nvSpPr>
          <p:cNvPr id="39" name="label-naive-title">
            <a:extLst>
              <a:ext uri="{FF2B5EF4-FFF2-40B4-BE49-F238E27FC236}">
                <a16:creationId xmlns:a16="http://schemas.microsoft.com/office/drawing/2014/main" id="{B5127266-3D1F-409B-90F7-9EEBBCEBC989}"/>
              </a:ext>
            </a:extLst>
          </p:cNvPr>
          <p:cNvSpPr>
            <a:spLocks noGrp="1"/>
          </p:cNvSpPr>
          <p:nvPr/>
        </p:nvSpPr>
        <p:spPr>
          <a:xfrm>
            <a:off x="9191625" y="666750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5588"/>
          </a:bodyPr>
          <a:lstStyle/>
          <a:p>
            <a:pPr algn="ctr">
              <a:defRPr sz="1700" b="1">
                <a:solidFill>
                  <a:srgbClr val="B7413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>
                <a:solidFill>
                  <a:srgbClr val="B74139"/>
                </a:solidFill>
                <a:latin typeface="Times New Roman"/>
                <a:ea typeface="Times New Roman"/>
                <a:cs typeface="Times New Roman"/>
              </a:rPr>
              <a:t>Naive estimate</a:t>
            </a:r>
          </a:p>
        </p:txBody>
      </p:sp>
      <p:sp>
        <p:nvSpPr>
          <p:cNvPr id="40" name="label-naive-subtitle">
            <a:extLst>
              <a:ext uri="{FF2B5EF4-FFF2-40B4-BE49-F238E27FC236}">
                <a16:creationId xmlns:a16="http://schemas.microsoft.com/office/drawing/2014/main" id="{03F1C424-774A-4948-BEE8-38A6B2A3A8CC}"/>
              </a:ext>
            </a:extLst>
          </p:cNvPr>
          <p:cNvSpPr>
            <a:spLocks noGrp="1"/>
          </p:cNvSpPr>
          <p:nvPr/>
        </p:nvSpPr>
        <p:spPr>
          <a:xfrm>
            <a:off x="9281996" y="911148"/>
            <a:ext cx="2457443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B7413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B74139"/>
                </a:solidFill>
                <a:latin typeface="Times New Roman"/>
                <a:ea typeface="Times New Roman"/>
                <a:cs typeface="Times New Roman"/>
              </a:rPr>
              <a:t>Selected evidence only</a:t>
            </a:r>
          </a:p>
        </p:txBody>
      </p:sp>
      <p:sp>
        <p:nvSpPr>
          <p:cNvPr id="41" name="label-log">
            <a:extLst>
              <a:ext uri="{FF2B5EF4-FFF2-40B4-BE49-F238E27FC236}">
                <a16:creationId xmlns:a16="http://schemas.microsoft.com/office/drawing/2014/main" id="{D5100AE4-7324-4B7E-8A64-394E098EA5D5}"/>
              </a:ext>
            </a:extLst>
          </p:cNvPr>
          <p:cNvSpPr>
            <a:spLocks noGrp="1"/>
          </p:cNvSpPr>
          <p:nvPr/>
        </p:nvSpPr>
        <p:spPr>
          <a:xfrm>
            <a:off x="4318306" y="3657600"/>
            <a:ext cx="3022446" cy="190501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C6E9F"/>
                </a:solidFill>
                <a:latin typeface="Times New Roman"/>
                <a:ea typeface="Times New Roman"/>
                <a:cs typeface="Times New Roman"/>
              </a:rPr>
              <a:t>Logged search trajectory</a:t>
            </a:r>
          </a:p>
        </p:txBody>
      </p:sp>
      <p:sp>
        <p:nvSpPr>
          <p:cNvPr id="42" name="label-cess-title">
            <a:extLst>
              <a:ext uri="{FF2B5EF4-FFF2-40B4-BE49-F238E27FC236}">
                <a16:creationId xmlns:a16="http://schemas.microsoft.com/office/drawing/2014/main" id="{77B8801F-0331-44BF-B133-283B75CBA3BB}"/>
              </a:ext>
            </a:extLst>
          </p:cNvPr>
          <p:cNvSpPr>
            <a:spLocks noGrp="1"/>
          </p:cNvSpPr>
          <p:nvPr/>
        </p:nvSpPr>
        <p:spPr>
          <a:xfrm>
            <a:off x="3009900" y="3981450"/>
            <a:ext cx="295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9265"/>
          </a:bodyPr>
          <a:lstStyle/>
          <a:p>
            <a:pPr algn="l">
              <a:defRPr sz="1700" b="1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rPr>
              <a:t>CESS selection correction</a:t>
            </a:r>
          </a:p>
        </p:txBody>
      </p:sp>
      <p:sp>
        <p:nvSpPr>
          <p:cNvPr id="43" name="label-propensity">
            <a:extLst>
              <a:ext uri="{FF2B5EF4-FFF2-40B4-BE49-F238E27FC236}">
                <a16:creationId xmlns:a16="http://schemas.microsoft.com/office/drawing/2014/main" id="{56765BDC-4306-4B12-8C36-515FFAD39ECD}"/>
              </a:ext>
            </a:extLst>
          </p:cNvPr>
          <p:cNvSpPr>
            <a:spLocks noGrp="1"/>
          </p:cNvSpPr>
          <p:nvPr/>
        </p:nvSpPr>
        <p:spPr>
          <a:xfrm>
            <a:off x="2914418" y="5762625"/>
            <a:ext cx="19716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450" b="1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rPr>
              <a:t>Selection propensities</a:t>
            </a:r>
          </a:p>
        </p:txBody>
      </p:sp>
      <p:sp>
        <p:nvSpPr>
          <p:cNvPr id="44" name="label-reweighting">
            <a:extLst>
              <a:ext uri="{FF2B5EF4-FFF2-40B4-BE49-F238E27FC236}">
                <a16:creationId xmlns:a16="http://schemas.microsoft.com/office/drawing/2014/main" id="{FB86FDF7-A633-4981-BD25-15BE1447B3B9}"/>
              </a:ext>
            </a:extLst>
          </p:cNvPr>
          <p:cNvSpPr>
            <a:spLocks noGrp="1"/>
          </p:cNvSpPr>
          <p:nvPr/>
        </p:nvSpPr>
        <p:spPr>
          <a:xfrm>
            <a:off x="4796886" y="5762625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809"/>
          </a:bodyPr>
          <a:lstStyle/>
          <a:p>
            <a:pPr algn="ctr">
              <a:defRPr sz="1450" b="1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rPr>
              <a:t>Evidence reweighting</a:t>
            </a:r>
          </a:p>
        </p:txBody>
      </p:sp>
      <p:sp>
        <p:nvSpPr>
          <p:cNvPr id="45" name="label-shrinkage">
            <a:extLst>
              <a:ext uri="{FF2B5EF4-FFF2-40B4-BE49-F238E27FC236}">
                <a16:creationId xmlns:a16="http://schemas.microsoft.com/office/drawing/2014/main" id="{07B30EBC-4889-461C-ADED-EBB70C649BBE}"/>
              </a:ext>
            </a:extLst>
          </p:cNvPr>
          <p:cNvSpPr>
            <a:spLocks noGrp="1"/>
          </p:cNvSpPr>
          <p:nvPr/>
        </p:nvSpPr>
        <p:spPr>
          <a:xfrm>
            <a:off x="6833737" y="5719186"/>
            <a:ext cx="1971674" cy="438146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6890" lnSpcReduction="20000"/>
          </a:bodyPr>
          <a:lstStyle/>
          <a:p>
            <a:pPr algn="ctr">
              <a:defRPr sz="1450" b="1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 b="1" dirty="0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rPr>
              <a:t>Variance-aware</a:t>
            </a:r>
            <a:r>
              <a:rPr sz="1450" b="1" dirty="0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176AA8"/>
                </a:solidFill>
                <a:latin typeface="Times New Roman"/>
                <a:ea typeface="Times New Roman"/>
                <a:cs typeface="Times New Roman"/>
              </a:rPr>
              <a:t>shrinkage</a:t>
            </a:r>
          </a:p>
        </p:txBody>
      </p:sp>
      <p:sp>
        <p:nvSpPr>
          <p:cNvPr id="46" name="label-audit-title">
            <a:extLst>
              <a:ext uri="{FF2B5EF4-FFF2-40B4-BE49-F238E27FC236}">
                <a16:creationId xmlns:a16="http://schemas.microsoft.com/office/drawing/2014/main" id="{EBD19DF4-5575-4C4E-A3A4-0896C93B0756}"/>
              </a:ext>
            </a:extLst>
          </p:cNvPr>
          <p:cNvSpPr>
            <a:spLocks noGrp="1"/>
          </p:cNvSpPr>
          <p:nvPr/>
        </p:nvSpPr>
        <p:spPr>
          <a:xfrm>
            <a:off x="9258300" y="3629025"/>
            <a:ext cx="2457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1912"/>
          </a:bodyPr>
          <a:lstStyle/>
          <a:p>
            <a:pPr algn="ctr">
              <a:defRPr sz="1700" b="1">
                <a:solidFill>
                  <a:srgbClr val="2071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1">
                <a:solidFill>
                  <a:srgbClr val="20715F"/>
                </a:solidFill>
                <a:latin typeface="Times New Roman"/>
                <a:ea typeface="Times New Roman"/>
                <a:cs typeface="Times New Roman"/>
              </a:rPr>
              <a:t>CESS audit</a:t>
            </a:r>
          </a:p>
        </p:txBody>
      </p:sp>
      <p:sp>
        <p:nvSpPr>
          <p:cNvPr id="47" name="label-audit-subtitle">
            <a:extLst>
              <a:ext uri="{FF2B5EF4-FFF2-40B4-BE49-F238E27FC236}">
                <a16:creationId xmlns:a16="http://schemas.microsoft.com/office/drawing/2014/main" id="{0B110AD1-C0BC-4766-971F-E330A6095183}"/>
              </a:ext>
            </a:extLst>
          </p:cNvPr>
          <p:cNvSpPr>
            <a:spLocks noGrp="1"/>
          </p:cNvSpPr>
          <p:nvPr/>
        </p:nvSpPr>
        <p:spPr>
          <a:xfrm>
            <a:off x="9201150" y="3908502"/>
            <a:ext cx="257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517" lnSpcReduction="10000"/>
          </a:bodyPr>
          <a:lstStyle/>
          <a:p>
            <a:pPr algn="ctr">
              <a:defRPr sz="1450" b="1">
                <a:solidFill>
                  <a:srgbClr val="20715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0715F"/>
                </a:solidFill>
                <a:latin typeface="Times New Roman"/>
                <a:ea typeface="Times New Roman"/>
                <a:cs typeface="Times New Roman"/>
              </a:rPr>
              <a:t>Candidate-set estimate</a:t>
            </a:r>
          </a:p>
        </p:txBody>
      </p:sp>
    </p:spTree>
    <p:extLst>
      <p:ext uri="{BB962C8B-B14F-4D97-AF65-F5344CB8AC3E}">
        <p14:creationId xmlns:p14="http://schemas.microsoft.com/office/powerpoint/2010/main" val="317108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80</Words>
  <Application>Microsoft Macintosh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书尧 肖</cp:lastModifiedBy>
  <cp:revision>2</cp:revision>
  <dcterms:created xsi:type="dcterms:W3CDTF">2026-09-17T13:29:43Z</dcterms:created>
  <dcterms:modified xsi:type="dcterms:W3CDTF">2026-09-20T02:50:31Z</dcterms:modified>
</cp:coreProperties>
</file>